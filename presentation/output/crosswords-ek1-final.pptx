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a77b591b054900" /><Relationship Type="http://schemas.openxmlformats.org/officeDocument/2006/relationships/extended-properties" Target="/docProps/app.xml" Id="Rbc97016f57eb4af4" /><Relationship Type="http://schemas.openxmlformats.org/officeDocument/2006/relationships/officeDocument" Target="/ppt/presentation.xml" Id="R714f81c399c742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d0ea11b2f347d1"/>
  </p:sldMasterIdLst>
  <p:notesMasterIdLst>
    <p:notesMasterId xmlns:r="http://schemas.openxmlformats.org/officeDocument/2006/relationships" r:id="R9031158890174ce0"/>
  </p:notesMasterIdLst>
  <p:sldIdLst>
    <p:sldId xmlns:r="http://schemas.openxmlformats.org/officeDocument/2006/relationships" id="256" r:id="Rd8608f37a0f44e0c"/>
    <p:sldId xmlns:r="http://schemas.openxmlformats.org/officeDocument/2006/relationships" id="257" r:id="R0ccc60334fe14453"/>
    <p:sldId xmlns:r="http://schemas.openxmlformats.org/officeDocument/2006/relationships" id="258" r:id="Rc91a73dd635a4588"/>
    <p:sldId xmlns:r="http://schemas.openxmlformats.org/officeDocument/2006/relationships" id="259" r:id="Rc90a0d469e69405c"/>
    <p:sldId xmlns:r="http://schemas.openxmlformats.org/officeDocument/2006/relationships" id="260" r:id="R99745d24225e4e77"/>
    <p:sldId xmlns:r="http://schemas.openxmlformats.org/officeDocument/2006/relationships" id="261" r:id="R4c11b09f945447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b853ce36ca49f0" /><Relationship Type="http://schemas.openxmlformats.org/officeDocument/2006/relationships/slideMaster" Target="/ppt/slideMasters/slideMaster1.xml" Id="R1cd0ea11b2f347d1" /><Relationship Type="http://schemas.openxmlformats.org/officeDocument/2006/relationships/notesMaster" Target="/ppt/notesMasters/notesMaster1.xml" Id="R9031158890174ce0" /><Relationship Type="http://schemas.openxmlformats.org/officeDocument/2006/relationships/presProps" Target="/ppt/presProps.xml" Id="R6ba32f590266444e" /><Relationship Type="http://schemas.openxmlformats.org/officeDocument/2006/relationships/tableStyles" Target="/ppt/tableStyles.xml" Id="Rb685d7fbf6064737" /><Relationship Type="http://schemas.openxmlformats.org/officeDocument/2006/relationships/slide" Target="/ppt/slides/slide1.xml" Id="Rd8608f37a0f44e0c" /><Relationship Type="http://schemas.openxmlformats.org/officeDocument/2006/relationships/slide" Target="/ppt/slides/slide2.xml" Id="R0ccc60334fe14453" /><Relationship Type="http://schemas.openxmlformats.org/officeDocument/2006/relationships/slide" Target="/ppt/slides/slide3.xml" Id="Rc91a73dd635a4588" /><Relationship Type="http://schemas.openxmlformats.org/officeDocument/2006/relationships/slide" Target="/ppt/slides/slide4.xml" Id="Rc90a0d469e69405c" /><Relationship Type="http://schemas.openxmlformats.org/officeDocument/2006/relationships/slide" Target="/ppt/slides/slide5.xml" Id="R99745d24225e4e77" /><Relationship Type="http://schemas.openxmlformats.org/officeDocument/2006/relationships/slide" Target="/ppt/slides/slide6.xml" Id="R4c11b09f945447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24fa9aa4f743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9d7b4331f341fc" /><Relationship Type="http://schemas.openxmlformats.org/officeDocument/2006/relationships/notesMaster" Target="/ppt/notesMasters/notesMaster1.xml" Id="R5ee03781a33340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8f3810db364d3e" /><Relationship Type="http://schemas.openxmlformats.org/officeDocument/2006/relationships/notesMaster" Target="/ppt/notesMasters/notesMaster1.xml" Id="R065a77fc6b5340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498783f26a4599" /><Relationship Type="http://schemas.openxmlformats.org/officeDocument/2006/relationships/notesMaster" Target="/ppt/notesMasters/notesMaster1.xml" Id="Re3c7582899fd43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2b57f2cdc64b37" /><Relationship Type="http://schemas.openxmlformats.org/officeDocument/2006/relationships/notesMaster" Target="/ppt/notesMasters/notesMaster1.xml" Id="R375f346475c74e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ecf708393d4660" /><Relationship Type="http://schemas.openxmlformats.org/officeDocument/2006/relationships/notesMaster" Target="/ppt/notesMasters/notesMaster1.xml" Id="Rabc70c710b2b4f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0662ec82de4199" /><Relationship Type="http://schemas.openxmlformats.org/officeDocument/2006/relationships/notesMaster" Target="/ppt/notesMasters/notesMaster1.xml" Id="R5cc57314181149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0:00–0:15. Матвей.</a:t>
            </a:r>
          </a:p>
          <a:p xmlns:a="http://schemas.openxmlformats.org/drawingml/2006/main">
            <a:r>
              <a:t>Наш продукт — Crosswords, умный корпус текстов СМИ. Он помогает аналитику искать новости, вести личные заметки и получать тематические дайджесты. На ЭК1 представляем концепцию безопасного жизненного цикла для одного учебного выпуска.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</a:t>
            </a:r>
          </a:p>
          <a:p xmlns:a="http://schemas.openxmlformats.org/drawingml/2006/main">
            <a:r>
              <a:t>https://github.com/KcasTischaWattt/rpbo-GORILLA/blob/ek1/project.md</a:t>
            </a:r>
          </a:p>
          <a:p xmlns:a="http://schemas.openxmlformats.org/drawingml/2006/main">
            <a:r>
              <a:t>https://github.com/KcasTischaWattt/rpbo-GORILLA/blob/ek1/ek1/defense.md</a:t>
            </a:r>
          </a:p>
          <a:p xmlns:a="http://schemas.openxmlformats.org/drawingml/2006/main">
            <a:r>
              <a:t>https://github.com/KcasTischaWattt/rpbo-GORILLA/blob/ek1/product/backend-web/frontend/src/assets/crosswords.png</a:t>
            </a:r>
          </a:p>
          <a:p xmlns:a="http://schemas.openxmlformats.org/drawingml/2006/main">
            <a:r>
              <a:t>https://github.com/hse-rbpo-master-2026/course/blob/5ce5fdf4ba4bb32ac62d1b9c6728f3a6d8fa6884/assessment.md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0:15–0:55. Матвей.</a:t>
            </a:r>
          </a:p>
          <a:p xmlns:a="http://schemas.openxmlformats.org/drawingml/2006/main">
            <a:r>
              <a:t>Система собирает новости из открытых источников. Python-конвейер передаёт их языковой модели для тегов и краткого содержания, затем сервер сохраняет результат. Аналитик работает через веб или мобильное приложение. Дайджесты формируются отдельным сервисом и передаются в рассылку. Мы исследуем предоставленную копию всех шести компонентов и готовим один учебный выпуск. Проверки будем проводить локально с синтетическими данными и заменителями интеграций. Банковская инфраструктура, реальные адресаты и внешние аккаунты за пределами работы. Защищаем личные объекты пользователя, полноту корпуса и проверяемый состав выпуска.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</a:t>
            </a:r>
          </a:p>
          <a:p xmlns:a="http://schemas.openxmlformats.org/drawingml/2006/main">
            <a:r>
              <a:t>https://github.com/KcasTischaWattt/rpbo-GORILLA/blob/ek1/project.md</a:t>
            </a:r>
          </a:p>
          <a:p xmlns:a="http://schemas.openxmlformats.org/drawingml/2006/main">
            <a:r>
              <a:t>https://github.com/KcasTischaWattt/rpbo-GORILLA/blob/ek1/ek1/architecture.md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0:55–1:45. Матвей.</a:t>
            </a:r>
          </a:p>
          <a:p xmlns:a="http://schemas.openxmlformats.org/drawingml/2006/main">
            <a:r>
              <a:t>В исходниках есть полезные защиты: сервер проверяет владельца заметки и фильтрует личные аннотации, cookies имеют флаги HttpOnly и Secure. Первый разрыв — недостаток доступных результатов для критичных пользовательских свойств. Это не подтверждённая уязвимость доступа. Второй — после неудачной отправки классификатор подтверждает сообщение. Изолированная проба исполнила две исходные функции и воспроизвела этот путь. Реальную потерю данных в Kafka пока не проверяли. Третий — неполные основания для защищённого транспорта, внутренних API и состава выпуска. Приоритеты связаны с личными данными, полнотой корпуса и возможностью обосновать выпуск.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</a:t>
            </a:r>
          </a:p>
          <a:p xmlns:a="http://schemas.openxmlformats.org/drawingml/2006/main">
            <a:r>
              <a:t>https://github.com/KcasTischaWattt/rpbo-GORILLA/blob/ek1/project.md</a:t>
            </a:r>
          </a:p>
          <a:p xmlns:a="http://schemas.openxmlformats.org/drawingml/2006/main">
            <a:r>
              <a:t>https://github.com/KcasTischaWattt/rpbo-GORILLA/blob/ek1/ek1/evidence/source-excerpts.md</a:t>
            </a:r>
          </a:p>
          <a:p xmlns:a="http://schemas.openxmlformats.org/drawingml/2006/main">
            <a:r>
              <a:t>https://github.com/KcasTischaWattt/rpbo-GORILLA/blob/ek1/ek1/evidence/pipeline-probe.json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1:45–2:25. Максим.</a:t>
            </a:r>
          </a:p>
          <a:p xmlns:a="http://schemas.openxmlformats.org/drawingml/2006/main">
            <a:r>
              <a:t>Основная рамка — NIST SSDF 1.1. Она охватывает жизненный цикл и позволяет выбрать небольшой набор практик для двух участников. Мы перевели её в семь областей с действиями, ролями, артефактами и условиями перехода. ASVS 5.0.0 дополняет процесс конкретными техническими ожиданиями. Полное соответствие стандартам не заявляем. Рассмотрели SAMM, но snapshot недостаточен для оценки зрелости организации. IEC 62443-4-1 ориентирована на промышленную автоматизацию, поэтому основной рамкой для этого продукта её не выбираем.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</a:t>
            </a:r>
          </a:p>
          <a:p xmlns:a="http://schemas.openxmlformats.org/drawingml/2006/main">
            <a:r>
              <a:t>https://github.com/KcasTischaWattt/rpbo-GORILLA/blob/ek1/project.md</a:t>
            </a:r>
          </a:p>
          <a:p xmlns:a="http://schemas.openxmlformats.org/drawingml/2006/main">
            <a:r>
              <a:t>https://github.com/KcasTischaWattt/rpbo-GORILLA/blob/ek1/ek1/requirements.md</a:t>
            </a:r>
          </a:p>
          <a:p xmlns:a="http://schemas.openxmlformats.org/drawingml/2006/main">
            <a:r>
              <a:t>https://nvlpubs.nist.gov/nistpubs/SpecialPublications/NIST.SP.800-218.pdf</a:t>
            </a:r>
          </a:p>
          <a:p xmlns:a="http://schemas.openxmlformats.org/drawingml/2006/main">
            <a:r>
              <a:t>https://github.com/OWASP/ASVS/releases/tag/v5.0.0_release</a:t>
            </a:r>
          </a:p>
          <a:p xmlns:a="http://schemas.openxmlformats.org/drawingml/2006/main">
            <a:r>
              <a:t>https://owaspsamm.org/model/</a:t>
            </a:r>
          </a:p>
          <a:p xmlns:a="http://schemas.openxmlformats.org/drawingml/2006/main">
            <a:r>
              <a:t>https://webstore.iec.ch/en/publication/33615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2:25–3:20. Максим.</a:t>
            </a:r>
          </a:p>
          <a:p xmlns:a="http://schemas.openxmlformats.org/drawingml/2006/main">
            <a:r>
              <a:t>Процесс начинается с задачи и проверяемого свойства. Автор и независимый проверяющий — разные участники. До слияния нужны review и относящиеся результаты. Затем партнёр повторяет существенную часть проверки, а для выпуска оба оценивают evidence одной версии и остаточные риски. Слияние и выпуск — отдельные решения. Если второй участник недоступен, значимое изменение ждёт. Исключение должно иметь причину, срок, компенсирующую меру и владельца. Мы вправе согласовать его только для своего изолированного стенда. При разногласии выпуск откладываем. После сообщения о проблеме сохраняем воспроизведение, исправляем причину и повторяем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</a:t>
            </a:r>
          </a:p>
          <a:p xmlns:a="http://schemas.openxmlformats.org/drawingml/2006/main">
            <a:r>
              <a:t>https://github.com/KcasTischaWattt/rpbo-GORILLA/blob/ek1/project.md</a:t>
            </a:r>
          </a:p>
          <a:p xmlns:a="http://schemas.openxmlformats.org/drawingml/2006/main">
            <a:r>
              <a:t>https://github.com/KcasTischaWattt/rpbo-GORILLA/blob/ek1/ek1/process-review.md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3:20–4:00. Матвей и Максим, по 20 секунд.</a:t>
            </a:r>
          </a:p>
          <a:p xmlns:a="http://schemas.openxmlformats.org/drawingml/2006/main">
            <a:r>
              <a:t>Матвей: предлагаю вести проверку доступа к личным объектам, ролей и сессионных границ. Максим повторит негативные сценарии, а я повторю существенную часть его проверки конвейера.</a:t>
            </a:r>
          </a:p>
          <a:p xmlns:a="http://schemas.openxmlformats.org/drawingml/2006/main">
            <a:r>
              <a:t>Максим: предлагаю вести ошибки обработки, повторы и недоверенный текст. Оценка плана — 40 человеко-часов на двоих. После лекций 06–08 уточним инструменты. Предварительный кандидат улучшения — явный исход ошибки отправки и политика повтора, затем проверка до и после. Сейчас готовы концепция и исходные свидетельства. Backend и web собраны, но полный runtime и мобильную сборку не проверяли.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</a:t>
            </a:r>
          </a:p>
          <a:p xmlns:a="http://schemas.openxmlformats.org/drawingml/2006/main">
            <a:r>
              <a:t>https://github.com/KcasTischaWattt/rpbo-GORILLA/blob/ek1/project.md</a:t>
            </a:r>
          </a:p>
          <a:p xmlns:a="http://schemas.openxmlformats.org/drawingml/2006/main">
            <a:r>
              <a:t>https://github.com/KcasTischaWattt/rpbo-GORILLA/blob/ek1/ek1/requirements.md</a:t>
            </a:r>
          </a:p>
          <a:p xmlns:a="http://schemas.openxmlformats.org/drawingml/2006/main">
            <a:r>
              <a:t>https://github.com/KcasTischaWattt/rpbo-GORILLA/blob/ek1/ek1/evidence/builds.md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5300232da41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ca0d66b4c046ca" /><Relationship Type="http://schemas.openxmlformats.org/officeDocument/2006/relationships/slideLayout" Target="/ppt/slideLayouts/slideLayout1.xml" Id="Rf0a666fe7dbb42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666fe7dbb42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2172bd6ce4c4f" /><Relationship Type="http://schemas.openxmlformats.org/officeDocument/2006/relationships/image" Target="/ppt/media/image.png" Id="Rd54eb119f51a416d" /><Relationship Type="http://schemas.openxmlformats.org/officeDocument/2006/relationships/notesSlide" Target="/ppt/notesSlides/notesSlide1.xml" Id="R634d9e53b70c46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8577306044a6b" /><Relationship Type="http://schemas.openxmlformats.org/officeDocument/2006/relationships/notesSlide" Target="/ppt/notesSlides/notesSlide2.xml" Id="Rf451f4d0268b4b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bcb28593f4c3d" /><Relationship Type="http://schemas.openxmlformats.org/officeDocument/2006/relationships/notesSlide" Target="/ppt/notesSlides/notesSlide3.xml" Id="Rfe5c93973ccd44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91e7cb07d4c6a" /><Relationship Type="http://schemas.openxmlformats.org/officeDocument/2006/relationships/notesSlide" Target="/ppt/notesSlides/notesSlide4.xml" Id="R7605d41f40b54f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2083500b64bc4" /><Relationship Type="http://schemas.openxmlformats.org/officeDocument/2006/relationships/notesSlide" Target="/ppt/notesSlides/notesSlide5.xml" Id="Rdde43ff7f62b47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cf42e5ae24e51" /><Relationship Type="http://schemas.openxmlformats.org/officeDocument/2006/relationships/notesSlide" Target="/ppt/notesSlides/notesSlide6.xml" Id="R7284299754834d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eb119f51a416d"/>
          <a:stretch xmlns:a="http://schemas.openxmlformats.org/drawingml/2006/main"/>
        </p:blipFill>
        <p:spPr>
          <a:xfrm xmlns:a="http://schemas.openxmlformats.org/drawingml/2006/main">
            <a:off x="690623" y="438150"/>
            <a:ext cx="3419354" cy="1143000"/>
          </a:xfrm>
          <a:prstGeom xmlns:a="http://schemas.openxmlformats.org/drawingml/2006/main" prst="rect">
            <a:avLst/>
          </a:prstGeom>
        </p:spPr>
      </p:pic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37148E6B-05CA-4726-9B03-1BEB4865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287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Умный корпус</a:t>
            </a:r>
          </a:p>
          <a:p xmlns:a="http://schemas.openxmlformats.org/drawingml/2006/main">
            <a:pPr>
              <a:defRPr sz="48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текстов СМИ</a:t>
            </a:r>
          </a:p>
        </p:txBody>
      </p:sp>
      <p:sp>
        <p:nvSpPr>
          <p:cNvPr id="3" name="ЭК-1. Концепция Secure SDLC">
            <a:extLst xmlns:a="http://schemas.openxmlformats.org/drawingml/2006/main">
              <a:ext uri="{FF2B5EF4-FFF2-40B4-BE49-F238E27FC236}">
                <a16:creationId xmlns:a16="http://schemas.microsoft.com/office/drawing/2014/main" id="{09733219-87F5-4A4C-8305-72D6840E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rPr>
              <a:t>ЭК-1. Концепция Secure SDLC</a:t>
            </a:r>
          </a:p>
        </p:txBody>
      </p:sp>
      <p:sp>
        <p:nvSpPr>
          <p:cNvPr id="4" name="Максим и Матвей">
            <a:extLst xmlns:a="http://schemas.openxmlformats.org/drawingml/2006/main">
              <a:ext uri="{FF2B5EF4-FFF2-40B4-BE49-F238E27FC236}">
                <a16:creationId xmlns:a16="http://schemas.microsoft.com/office/drawing/2014/main" id="{F0DB1838-5ECC-4A57-8C35-4B7FA59F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Максим и Матвей</a:t>
            </a:r>
          </a:p>
        </p:txBody>
      </p:sp>
    </p:spTree>
    <p:extLst>
      <p:ext uri="{BB962C8B-B14F-4D97-AF65-F5344CB8AC3E}">
        <p14:creationId xmlns:p14="http://schemas.microsoft.com/office/powerpoint/2010/main" val="73029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FF8981-23B4-4491-8AC7-2A52E67B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Продукт и границы</a:t>
            </a:r>
          </a:p>
        </p:txBody>
      </p:sp>
      <p:sp>
        <p:nvSpPr>
          <p:cNvPr id="2" name="Открытые новости, тематический поиск">
            <a:extLst xmlns:a="http://schemas.openxmlformats.org/drawingml/2006/main">
              <a:ext uri="{FF2B5EF4-FFF2-40B4-BE49-F238E27FC236}">
                <a16:creationId xmlns:a16="http://schemas.microsoft.com/office/drawing/2014/main" id="{421614C5-F933-4C63-9A28-97F241FD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Открытые новости, тематический поиск, личные заметки</a:t>
            </a:r>
          </a:p>
          <a:p xmlns:a="http://schemas.openxmlformats.org/drawingml/2006/main">
            <a:pPr>
              <a:def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и подписки на дайджесты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2447925"/>
          <a:ext xmlns:a="http://schemas.openxmlformats.org/drawingml/2006/main" cx="10820400" cy="27813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667000"/>
                <a:gridCol w="8153400"/>
              </a:tblGrid>
              <a:tr h="6953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54B6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Часть системы</a:t>
                      </a:r>
                    </a:p>
                  </a:txBody>
                  <a:tcPr marL="142875" marR="142875" marT="104775" marB="10477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54B6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Компоненты и задачи</a:t>
                      </a:r>
                    </a:p>
                  </a:txBody>
                  <a:tcPr marL="142875" marR="142875" marT="104775" marB="104775" anchor="ctr">
                    <a:solidFill>
                      <a:srgbClr val="EFF3F6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Сбор и обработка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Python: сборщик, классификатор, дайджест и рассылка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Сервер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Spring Boot API, PostgreSQL и полнотекстовый поиск OpenSearch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Клиенты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Web на Vue / Quasar и мобильное приложение на Flutter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Учебный выпуск crosswords-course-v0.">
            <a:extLst xmlns:a="http://schemas.openxmlformats.org/drawingml/2006/main">
              <a:ext uri="{FF2B5EF4-FFF2-40B4-BE49-F238E27FC236}">
                <a16:creationId xmlns:a16="http://schemas.microsoft.com/office/drawing/2014/main" id="{F25F91E8-8355-4319-8A2C-8E531BB7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4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4B68"/>
                </a:solidFill>
                <a:latin typeface="Helvetica Neue"/>
                <a:ea typeface="Helvetica Neue"/>
                <a:cs typeface="Helvetica Neue"/>
              </a:rPr>
              <a:t>Учебный выпуск crosswords-course-v0.1</a:t>
            </a:r>
          </a:p>
        </p:txBody>
      </p:sp>
      <p:sp>
        <p:nvSpPr>
          <p:cNvPr id="5" name="Локальный стенд и синтетические данн">
            <a:extLst xmlns:a="http://schemas.openxmlformats.org/drawingml/2006/main">
              <a:ext uri="{FF2B5EF4-FFF2-40B4-BE49-F238E27FC236}">
                <a16:creationId xmlns:a16="http://schemas.microsoft.com/office/drawing/2014/main" id="{5CE06D81-9A19-4BAD-A7E9-6B486AEF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rPr>
              <a:t>Локальный стенд и синтетические данные. Инфраструктура банка вне области работы.</a:t>
            </a:r>
          </a:p>
        </p:txBody>
      </p:sp>
    </p:spTree>
    <p:extLst>
      <p:ext uri="{BB962C8B-B14F-4D97-AF65-F5344CB8AC3E}">
        <p14:creationId xmlns:p14="http://schemas.microsoft.com/office/powerpoint/2010/main" val="2038183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095431-EA97-44CD-9108-E118C1D1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Текущее состояние</a:t>
            </a:r>
          </a:p>
        </p:txBody>
      </p:sp>
      <p:sp>
        <p:nvSpPr>
          <p:cNvPr id="2" name="Существующие защиты: проверка владел">
            <a:extLst xmlns:a="http://schemas.openxmlformats.org/drawingml/2006/main">
              <a:ext uri="{FF2B5EF4-FFF2-40B4-BE49-F238E27FC236}">
                <a16:creationId xmlns:a16="http://schemas.microsoft.com/office/drawing/2014/main" id="{E3478804-C74C-4C2C-B42A-7C8B1B95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Существующие защиты: проверка владельца заметки,</a:t>
            </a:r>
          </a:p>
          <a:p xmlns:a="http://schemas.openxmlformats.org/drawingml/2006/main">
            <a:pPr>
              <a:defRPr sz="21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фильтрация личных аннотаций, HttpOnly / Secure cookies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2409825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905250"/>
                <a:gridCol w="691515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4B6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Существенный разрыв</a:t>
                      </a:r>
                    </a:p>
                  </a:txBody>
                  <a:tcPr marL="142875" marR="142875" marT="104775" marB="10477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4B6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Наблюдение в исходном состоянии</a:t>
                      </a:r>
                    </a:p>
                  </a:txBody>
                  <a:tcPr marL="142875" marR="142875" marT="104775" marB="104775" anchor="ctr">
                    <a:solidFill>
                      <a:srgbClr val="EFF3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G1. Основание для выпуска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Доступные тесты не проверяют личные объекты и сессии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G2. Доставка новостей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После ошибки отправки classifier вызывает commit()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G3. Границы сервисов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Условия транспорта, доступа и состава требуют уточнения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Приоритет: личные данные, полнота ко">
            <a:extLst xmlns:a="http://schemas.openxmlformats.org/drawingml/2006/main">
              <a:ext uri="{FF2B5EF4-FFF2-40B4-BE49-F238E27FC236}">
                <a16:creationId xmlns:a16="http://schemas.microsoft.com/office/drawing/2014/main" id="{606CD2E9-F5CF-4484-9DE2-0D45F28E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4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4B68"/>
                </a:solidFill>
                <a:latin typeface="Helvetica Neue"/>
                <a:ea typeface="Helvetica Neue"/>
                <a:cs typeface="Helvetica Neue"/>
              </a:rPr>
              <a:t>Приоритет: личные данные, полнота корпуса и обоснованность выпуска</a:t>
            </a:r>
          </a:p>
        </p:txBody>
      </p:sp>
      <p:sp>
        <p:nvSpPr>
          <p:cNvPr id="5" name="Проба G2 охватывает две исходные фун">
            <a:extLst xmlns:a="http://schemas.openxmlformats.org/drawingml/2006/main">
              <a:ext uri="{FF2B5EF4-FFF2-40B4-BE49-F238E27FC236}">
                <a16:creationId xmlns:a16="http://schemas.microsoft.com/office/drawing/2014/main" id="{A78691B0-6DBF-424D-9C48-6402150B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rPr>
              <a:t>Проба G2 охватывает две исходные функции. Потерю сообщения в реальном Kafka ещё не проверяли.</a:t>
            </a:r>
          </a:p>
        </p:txBody>
      </p:sp>
    </p:spTree>
    <p:extLst>
      <p:ext uri="{BB962C8B-B14F-4D97-AF65-F5344CB8AC3E}">
        <p14:creationId xmlns:p14="http://schemas.microsoft.com/office/powerpoint/2010/main" val="923973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67649F-36D3-4976-B8D5-AE7C8F96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Методологическая основа</a:t>
            </a:r>
          </a:p>
        </p:txBody>
      </p:sp>
      <p:sp>
        <p:nvSpPr>
          <p:cNvPr id="2" name="NIST SSDF 1.1">
            <a:extLst xmlns:a="http://schemas.openxmlformats.org/drawingml/2006/main">
              <a:ext uri="{FF2B5EF4-FFF2-40B4-BE49-F238E27FC236}">
                <a16:creationId xmlns:a16="http://schemas.microsoft.com/office/drawing/2014/main" id="{4B99D3B5-3E8A-4AB1-A58A-DB4C3571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4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54B68"/>
                </a:solidFill>
                <a:latin typeface="Helvetica Neue"/>
                <a:ea typeface="Helvetica Neue"/>
                <a:cs typeface="Helvetica Neue"/>
              </a:rPr>
              <a:t>NIST SSDF 1.1</a:t>
            </a:r>
          </a:p>
        </p:txBody>
      </p:sp>
      <p:sp>
        <p:nvSpPr>
          <p:cNvPr id="3" name="Семь адаптированных областей">
            <a:extLst xmlns:a="http://schemas.openxmlformats.org/drawingml/2006/main">
              <a:ext uri="{FF2B5EF4-FFF2-40B4-BE49-F238E27FC236}">
                <a16:creationId xmlns:a16="http://schemas.microsoft.com/office/drawing/2014/main" id="{58F98E57-1B6B-4BF8-AA3A-A2C22EA6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rPr>
              <a:t>Семь адаптированных областей</a:t>
            </a:r>
          </a:p>
        </p:txBody>
      </p:sp>
      <p:sp>
        <p:nvSpPr>
          <p:cNvPr id="4" name="Требования&#10;Роли и критерии перехода&#10;">
            <a:extLst xmlns:a="http://schemas.openxmlformats.org/drawingml/2006/main">
              <a:ext uri="{FF2B5EF4-FFF2-40B4-BE49-F238E27FC236}">
                <a16:creationId xmlns:a16="http://schemas.microsoft.com/office/drawing/2014/main" id="{7139ADE2-7FFA-4642-A6FA-3271049E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Требования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Роли и критерии перехода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Состав выпуска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Проектирование границ</a:t>
            </a:r>
          </a:p>
        </p:txBody>
      </p:sp>
      <p:sp>
        <p:nvSpPr>
          <p:cNvPr id="5" name="Review изменений&#10;Поведенческие прове">
            <a:extLst xmlns:a="http://schemas.openxmlformats.org/drawingml/2006/main">
              <a:ext uri="{FF2B5EF4-FFF2-40B4-BE49-F238E27FC236}">
                <a16:creationId xmlns:a16="http://schemas.microsoft.com/office/drawing/2014/main" id="{CD669DEC-B8F9-4C16-8978-B9380617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124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Review изменений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Поведенческие проверки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Реакция на результаты</a:t>
            </a:r>
          </a:p>
        </p:txBody>
      </p:sp>
      <p:sp>
        <p:nvSpPr>
          <p:cNvPr id="6" name="ASVS 5.0.0 конкретизирует технически">
            <a:extLst xmlns:a="http://schemas.openxmlformats.org/drawingml/2006/main">
              <a:ext uri="{FF2B5EF4-FFF2-40B4-BE49-F238E27FC236}">
                <a16:creationId xmlns:a16="http://schemas.microsoft.com/office/drawing/2014/main" id="{11267C8B-3591-4907-A571-F17BC2D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ASVS 5.0.0 конкретизирует технические свойства API и веба</a:t>
            </a:r>
          </a:p>
        </p:txBody>
      </p:sp>
      <p:sp>
        <p:nvSpPr>
          <p:cNvPr id="7" name="Альтернативы: SAMM 2.0 и IEC 62443-4">
            <a:extLst xmlns:a="http://schemas.openxmlformats.org/drawingml/2006/main">
              <a:ext uri="{FF2B5EF4-FFF2-40B4-BE49-F238E27FC236}">
                <a16:creationId xmlns:a16="http://schemas.microsoft.com/office/drawing/2014/main" id="{FB0D038B-7D65-4FC3-9404-2A3E7217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rPr>
              <a:t>Альтернативы: SAMM 2.0 и IEC 62443-4-1:2018</a:t>
            </a:r>
          </a:p>
        </p:txBody>
      </p:sp>
    </p:spTree>
    <p:extLst>
      <p:ext uri="{BB962C8B-B14F-4D97-AF65-F5344CB8AC3E}">
        <p14:creationId xmlns:p14="http://schemas.microsoft.com/office/powerpoint/2010/main" val="79778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AA5145-8BF8-4DCA-859D-CB5A6A8D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Целевой Secure SDLC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238250"/>
                <a:gridCol w="5715000"/>
                <a:gridCol w="3867150"/>
              </a:tblGrid>
              <a:tr h="647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4B6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Точка</a:t>
                      </a:r>
                    </a:p>
                  </a:txBody>
                  <a:tcPr marL="142875" marR="142875" marT="104775" marB="10477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4B6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Основание перехода</a:t>
                      </a:r>
                    </a:p>
                  </a:txBody>
                  <a:tcPr marL="142875" marR="142875" marT="104775" marB="10477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54B6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Проверяющий</a:t>
                      </a:r>
                    </a:p>
                  </a:txBody>
                  <a:tcPr marL="142875" marR="142875" marT="104775" marB="104775" anchor="ctr">
                    <a:solidFill>
                      <a:srgbClr val="EFF3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К0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Свойство, задача и изолированная среда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Партнёр автора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К1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Diff и результаты перед слиянием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Партнёр автора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К2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проверки до и после улучшения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Другой участник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К3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Результаты одной версии и остаточный риск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Оба участника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К4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Сообщение о проблеме, исправление и повтор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Партнёр автора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Без второго проверяющего переход ждё">
            <a:extLst xmlns:a="http://schemas.openxmlformats.org/drawingml/2006/main">
              <a:ext uri="{FF2B5EF4-FFF2-40B4-BE49-F238E27FC236}">
                <a16:creationId xmlns:a16="http://schemas.microsoft.com/office/drawing/2014/main" id="{13EBBE00-15BA-4568-8681-5DA1542F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4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4B68"/>
                </a:solidFill>
                <a:latin typeface="Helvetica Neue"/>
                <a:ea typeface="Helvetica Neue"/>
                <a:cs typeface="Helvetica Neue"/>
              </a:rPr>
              <a:t>Без второго проверяющего переход ждёт</a:t>
            </a:r>
          </a:p>
        </p:txBody>
      </p:sp>
      <p:sp>
        <p:nvSpPr>
          <p:cNvPr id="4" name="Исключения ограничены собственным уч">
            <a:extLst xmlns:a="http://schemas.openxmlformats.org/drawingml/2006/main">
              <a:ext uri="{FF2B5EF4-FFF2-40B4-BE49-F238E27FC236}">
                <a16:creationId xmlns:a16="http://schemas.microsoft.com/office/drawing/2014/main" id="{8E2EF27E-C975-4C99-A974-4F2A3F7D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rPr>
              <a:t>Исключения ограничены собственным учебным стендом. При разногласии выпуск откладываем.</a:t>
            </a:r>
          </a:p>
        </p:txBody>
      </p:sp>
    </p:spTree>
    <p:extLst>
      <p:ext uri="{BB962C8B-B14F-4D97-AF65-F5344CB8AC3E}">
        <p14:creationId xmlns:p14="http://schemas.microsoft.com/office/powerpoint/2010/main" val="1473892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425D76-88A9-4C61-A9FB-330C0EAD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План Максима и Матвея</a:t>
            </a:r>
          </a:p>
        </p:txBody>
      </p:sp>
      <p:sp>
        <p:nvSpPr>
          <p:cNvPr id="2" name="Предлагаемое распределение работы">
            <a:extLst xmlns:a="http://schemas.openxmlformats.org/drawingml/2006/main">
              <a:ext uri="{FF2B5EF4-FFF2-40B4-BE49-F238E27FC236}">
                <a16:creationId xmlns:a16="http://schemas.microsoft.com/office/drawing/2014/main" id="{6D654423-342E-4A09-A98B-027FD2F0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rPr>
              <a:t>Предлагаемое распределение работы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09775"/>
          <a:ext xmlns:a="http://schemas.openxmlformats.org/drawingml/2006/main" cx="10820400" cy="22098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410200"/>
                <a:gridCol w="5410200"/>
              </a:tblGrid>
              <a:tr h="736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54B6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Матвей, направление M1</a:t>
                      </a:r>
                    </a:p>
                  </a:txBody>
                  <a:tcPr marL="142875" marR="142875" marT="104775" marB="10477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54B6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Максим, направление M2</a:t>
                      </a:r>
                    </a:p>
                  </a:txBody>
                  <a:tcPr marL="142875" marR="142875" marT="104775" marB="104775" anchor="ctr">
                    <a:solidFill>
                      <a:srgbClr val="EFF3F6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Доступ к личным объектам</a:t>
                      </a:r>
                    </a:p>
                    <a:p>
                      <a:r>
                        <a:rPr sz="202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Роли и сессионные границы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Ошибки конвейера и повторы</a:t>
                      </a:r>
                    </a:p>
                    <a:p>
                      <a:r>
                        <a:rPr sz="202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Недоверенный текст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Повторяет существенный сценарий M2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02B3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Повторяет существенный сценарий M1</a:t>
                      </a:r>
                    </a:p>
                  </a:txBody>
                  <a:tcPr marL="142875" marR="142875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Плановая оценка: 40 человеко-часов н">
            <a:extLst xmlns:a="http://schemas.openxmlformats.org/drawingml/2006/main">
              <a:ext uri="{FF2B5EF4-FFF2-40B4-BE49-F238E27FC236}">
                <a16:creationId xmlns:a16="http://schemas.microsoft.com/office/drawing/2014/main" id="{C55198E5-B99E-47A1-AA04-14515F5A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4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4B68"/>
                </a:solidFill>
                <a:latin typeface="Helvetica Neue"/>
                <a:ea typeface="Helvetica Neue"/>
                <a:cs typeface="Helvetica Neue"/>
              </a:rPr>
              <a:t>Плановая оценка: 40 человеко-часов на двоих</a:t>
            </a:r>
          </a:p>
        </p:txBody>
      </p:sp>
      <p:sp>
        <p:nvSpPr>
          <p:cNvPr id="5" name="После лекций 06–08 уточняем методы, ">
            <a:extLst xmlns:a="http://schemas.openxmlformats.org/drawingml/2006/main">
              <a:ext uri="{FF2B5EF4-FFF2-40B4-BE49-F238E27FC236}">
                <a16:creationId xmlns:a16="http://schemas.microsoft.com/office/drawing/2014/main" id="{F443F995-5D8C-4C8A-8F58-75F8819D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После лекций 06–08 уточняем методы, выбираем одно улучшение</a:t>
            </a:r>
          </a:p>
          <a:p xmlns:a="http://schemas.openxmlformats.org/drawingml/2006/main">
            <a:pPr>
              <a:defRPr sz="202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B37"/>
                </a:solidFill>
                <a:latin typeface="Helvetica Neue"/>
                <a:ea typeface="Helvetica Neue"/>
                <a:cs typeface="Helvetica Neue"/>
              </a:rPr>
              <a:t>и повторяем проверку на изменённой версии</a:t>
            </a:r>
          </a:p>
        </p:txBody>
      </p:sp>
      <p:sp>
        <p:nvSpPr>
          <p:cNvPr id="6" name="Backend собран без тестов. Web собра">
            <a:extLst xmlns:a="http://schemas.openxmlformats.org/drawingml/2006/main">
              <a:ext uri="{FF2B5EF4-FFF2-40B4-BE49-F238E27FC236}">
                <a16:creationId xmlns:a16="http://schemas.microsoft.com/office/drawing/2014/main" id="{93C87BC9-8BD9-4515-AD3E-28371AA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A68"/>
                </a:solidFill>
                <a:latin typeface="Helvetica Neue"/>
                <a:ea typeface="Helvetica Neue"/>
                <a:cs typeface="Helvetica Neue"/>
              </a:rPr>
              <a:t>Backend собран без тестов. Web собран. Mobile и полный запуск пока не проверяли.</a:t>
            </a:r>
          </a:p>
        </p:txBody>
      </p:sp>
    </p:spTree>
    <p:extLst>
      <p:ext uri="{BB962C8B-B14F-4D97-AF65-F5344CB8AC3E}">
        <p14:creationId xmlns:p14="http://schemas.microsoft.com/office/powerpoint/2010/main" val="1311554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2026-10-04T18:50:06.9740000Z</dcterms:created>
  <dcterms:modified xsi:type="dcterms:W3CDTF">2026-10-04T18:50:06.9740000Z</dcterms:modified>
</coreProperties>
</file>